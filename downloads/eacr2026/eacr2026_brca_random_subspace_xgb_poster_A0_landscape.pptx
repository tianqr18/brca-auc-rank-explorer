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2793920" cy="3026664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31546800" cy="1097280"/>
          </a:xfrm>
          <a:prstGeom prst="rect">
            <a:avLst/>
          </a:prstGeom>
          <a:noFill/>
          <a:ln>
            <a:noFill/>
          </a:ln>
        </p:spPr>
        <p:txBody>
          <a:bodyPr wrap="square">
            <a:spAutoFit/>
          </a:bodyPr>
          <a:lstStyle/>
          <a:p>
            <a:pPr algn="l"/>
            <a:r>
              <a:rPr sz="3600" b="1">
                <a:solidFill>
                  <a:srgbClr val="1C232B"/>
                </a:solidFill>
              </a:rPr>
              <a:t>Leakage-aware repeated XGBoost screening audits unstable breast cancer top genes</a:t>
            </a:r>
          </a:p>
        </p:txBody>
      </p:sp>
      <p:sp>
        <p:nvSpPr>
          <p:cNvPr id="3" name="TextBox 2"/>
          <p:cNvSpPr txBox="1"/>
          <p:nvPr/>
        </p:nvSpPr>
        <p:spPr>
          <a:xfrm>
            <a:off x="777240" y="1417320"/>
            <a:ext cx="22860000" cy="502920"/>
          </a:xfrm>
          <a:prstGeom prst="rect">
            <a:avLst/>
          </a:prstGeom>
          <a:noFill/>
          <a:ln>
            <a:noFill/>
          </a:ln>
        </p:spPr>
        <p:txBody>
          <a:bodyPr wrap="square">
            <a:spAutoFit/>
          </a:bodyPr>
          <a:lstStyle/>
          <a:p>
            <a:pPr algn="l"/>
            <a:r>
              <a:rPr sz="1600" b="0">
                <a:solidFill>
                  <a:srgbClr val="525C69"/>
                </a:solidFill>
              </a:rPr>
              <a:t>Author names and affiliations to be confirmed | EACR 2026 Congress, Budapest | Poster: A0 landscape, 1189 x 841 mm</a:t>
            </a:r>
          </a:p>
        </p:txBody>
      </p:sp>
      <p:sp>
        <p:nvSpPr>
          <p:cNvPr id="4" name="TextBox 3"/>
          <p:cNvSpPr txBox="1"/>
          <p:nvPr/>
        </p:nvSpPr>
        <p:spPr>
          <a:xfrm>
            <a:off x="32918400" y="502920"/>
            <a:ext cx="8961120" cy="594360"/>
          </a:xfrm>
          <a:prstGeom prst="rect">
            <a:avLst/>
          </a:prstGeom>
          <a:noFill/>
          <a:ln>
            <a:noFill/>
          </a:ln>
        </p:spPr>
        <p:txBody>
          <a:bodyPr wrap="square">
            <a:spAutoFit/>
          </a:bodyPr>
          <a:lstStyle/>
          <a:p>
            <a:pPr algn="r"/>
            <a:r>
              <a:rPr sz="2400" b="1">
                <a:solidFill>
                  <a:srgbClr val="7D2020"/>
                </a:solidFill>
              </a:rPr>
              <a:t>Take-home message</a:t>
            </a:r>
          </a:p>
        </p:txBody>
      </p:sp>
      <p:sp>
        <p:nvSpPr>
          <p:cNvPr id="5" name="TextBox 4"/>
          <p:cNvSpPr txBox="1"/>
          <p:nvPr/>
        </p:nvSpPr>
        <p:spPr>
          <a:xfrm>
            <a:off x="30449519" y="1143000"/>
            <a:ext cx="11338560" cy="960120"/>
          </a:xfrm>
          <a:prstGeom prst="rect">
            <a:avLst/>
          </a:prstGeom>
          <a:noFill/>
          <a:ln>
            <a:noFill/>
          </a:ln>
        </p:spPr>
        <p:txBody>
          <a:bodyPr wrap="square">
            <a:spAutoFit/>
          </a:bodyPr>
          <a:lstStyle/>
          <a:p>
            <a:pPr algn="r"/>
            <a:r>
              <a:rPr sz="1800" b="1">
                <a:solidFill>
                  <a:srgbClr val="1F2937"/>
                </a:solidFill>
              </a:rPr>
              <a:t>Top genes are not a single answer: fold-contained repeated screening improves reproducibility without claiming causal biomarkers.</a:t>
            </a:r>
          </a:p>
        </p:txBody>
      </p:sp>
      <p:sp>
        <p:nvSpPr>
          <p:cNvPr id="6" name="Rectangle 5"/>
          <p:cNvSpPr/>
          <p:nvPr/>
        </p:nvSpPr>
        <p:spPr>
          <a:xfrm>
            <a:off x="777240" y="2514600"/>
            <a:ext cx="9144000" cy="5669280"/>
          </a:xfrm>
          <a:prstGeom prst="rect">
            <a:avLst/>
          </a:prstGeom>
          <a:solidFill>
            <a:srgbClr val="FAFAFA"/>
          </a:solidFill>
          <a:ln w="12700">
            <a:solidFill>
              <a:srgbClr val="D2DBE5"/>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a:lstStyle/>
          <a:p>
            <a:pPr algn="ctr"/>
            <a:r>
              <a:rPr b="1" sz="2400">
                <a:solidFill>
                  <a:srgbClr val="7D2020"/>
                </a:solidFill>
              </a:rPr>
              <a:t>Problem</a:t>
            </a:r>
          </a:p>
          <a:p>
            <a:pPr>
              <a:spcBef>
                <a:spcPts val="800"/>
              </a:spcBef>
            </a:pPr>
            <a:r>
              <a:rPr sz="1800">
                <a:solidFill>
                  <a:srgbClr val="1F2937"/>
                </a:solidFill>
              </a:rPr>
              <a:t>Many transcriptomic biomarker workflows report one ranked gene list from one split or from filters applied before resampling. This can mix leakage risk with split-seed instability.</a:t>
            </a:r>
          </a:p>
        </p:txBody>
      </p:sp>
      <p:sp>
        <p:nvSpPr>
          <p:cNvPr id="7" name="Rectangle 6"/>
          <p:cNvSpPr/>
          <p:nvPr/>
        </p:nvSpPr>
        <p:spPr>
          <a:xfrm>
            <a:off x="777240" y="8503920"/>
            <a:ext cx="9144000" cy="6675120"/>
          </a:xfrm>
          <a:prstGeom prst="rect">
            <a:avLst/>
          </a:prstGeom>
          <a:solidFill>
            <a:srgbClr val="EFF6FF"/>
          </a:solidFill>
          <a:ln w="12700">
            <a:solidFill>
              <a:srgbClr val="D2DBE5"/>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a:lstStyle/>
          <a:p>
            <a:pPr algn="ctr"/>
            <a:r>
              <a:rPr b="1" sz="2400">
                <a:solidFill>
                  <a:srgbClr val="7D2020"/>
                </a:solidFill>
              </a:rPr>
              <a:t>Audit design</a:t>
            </a:r>
          </a:p>
          <a:p>
            <a:pPr>
              <a:spcBef>
                <a:spcPts val="800"/>
              </a:spcBef>
            </a:pPr>
            <a:r>
              <a:rPr sz="1800">
                <a:solidFill>
                  <a:srgbClr val="1F2937"/>
                </a:solidFill>
              </a:rPr>
              <a:t>All ranking and panel export are performed inside CV folds. Genes are repeatedly shuffled into local batches (100, 250, 500, 1000), ranked by shallow XGBoost gain, aggregated, and retrained as fixed Top2000 panels.</a:t>
            </a:r>
          </a:p>
        </p:txBody>
      </p:sp>
      <p:sp>
        <p:nvSpPr>
          <p:cNvPr id="8" name="Rectangle 7"/>
          <p:cNvSpPr/>
          <p:nvPr/>
        </p:nvSpPr>
        <p:spPr>
          <a:xfrm>
            <a:off x="777240" y="15544800"/>
            <a:ext cx="9144000" cy="5852160"/>
          </a:xfrm>
          <a:prstGeom prst="rect">
            <a:avLst/>
          </a:prstGeom>
          <a:solidFill>
            <a:srgbClr val="F7FAFC"/>
          </a:solidFill>
          <a:ln w="12700">
            <a:solidFill>
              <a:srgbClr val="D2DBE5"/>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a:lstStyle/>
          <a:p>
            <a:pPr algn="ctr"/>
            <a:r>
              <a:rPr b="1" sz="2400">
                <a:solidFill>
                  <a:srgbClr val="7D2020"/>
                </a:solidFill>
              </a:rPr>
              <a:t>Data and tasks</a:t>
            </a:r>
          </a:p>
          <a:p>
            <a:pPr>
              <a:spcBef>
                <a:spcPts val="800"/>
              </a:spcBef>
            </a:pPr>
            <a:r>
              <a:rPr sz="1800">
                <a:solidFill>
                  <a:srgbClr val="1F2937"/>
                </a:solidFill>
              </a:rPr>
              <a:t>TCGA-BRCA Xena expression: 1218 samples x 20530 genes. Seven internal tasks were tested. METABRIC primary tumours were used for external transfer where labels were compatible.</a:t>
            </a:r>
          </a:p>
        </p:txBody>
      </p:sp>
      <p:sp>
        <p:nvSpPr>
          <p:cNvPr id="9" name="Rectangle 8"/>
          <p:cNvSpPr/>
          <p:nvPr/>
        </p:nvSpPr>
        <p:spPr>
          <a:xfrm>
            <a:off x="777240" y="21762720"/>
            <a:ext cx="9144000" cy="6766560"/>
          </a:xfrm>
          <a:prstGeom prst="rect">
            <a:avLst/>
          </a:prstGeom>
          <a:solidFill>
            <a:srgbClr val="FFF7ED"/>
          </a:solidFill>
          <a:ln w="12700">
            <a:solidFill>
              <a:srgbClr val="D2DBE5"/>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a:lstStyle/>
          <a:p>
            <a:pPr algn="ctr"/>
            <a:r>
              <a:rPr b="1" sz="2400">
                <a:solidFill>
                  <a:srgbClr val="7D2020"/>
                </a:solidFill>
              </a:rPr>
              <a:t>Prior genes and baselines</a:t>
            </a:r>
          </a:p>
          <a:p>
            <a:pPr>
              <a:spcBef>
                <a:spcPts val="800"/>
              </a:spcBef>
            </a:pPr>
            <a:r>
              <a:rPr sz="1800">
                <a:solidFill>
                  <a:srgbClr val="1F2937"/>
                </a:solidFill>
              </a:rPr>
              <a:t>BRCA driver/PAM50 genes are interpretation controls only, never training aids. XGBoost is compared with logistic and elastic-net Top30 baselines to avoid presenting accuracy as a model-specific trick.</a:t>
            </a:r>
          </a:p>
        </p:txBody>
      </p:sp>
      <p:pic>
        <p:nvPicPr>
          <p:cNvPr id="10" name="Picture 9" descr="fig1a_workflow.png"/>
          <p:cNvPicPr>
            <a:picLocks noChangeAspect="1"/>
          </p:cNvPicPr>
          <p:nvPr/>
        </p:nvPicPr>
        <p:blipFill>
          <a:blip r:embed="rId2"/>
          <a:stretch>
            <a:fillRect/>
          </a:stretch>
        </p:blipFill>
        <p:spPr>
          <a:xfrm>
            <a:off x="11887200" y="2423160"/>
            <a:ext cx="18288000" cy="4408526"/>
          </a:xfrm>
          <a:prstGeom prst="rect">
            <a:avLst/>
          </a:prstGeom>
        </p:spPr>
      </p:pic>
      <p:sp>
        <p:nvSpPr>
          <p:cNvPr id="11" name="TextBox 10"/>
          <p:cNvSpPr txBox="1"/>
          <p:nvPr/>
        </p:nvSpPr>
        <p:spPr>
          <a:xfrm>
            <a:off x="11247120" y="6995160"/>
            <a:ext cx="19202400" cy="411480"/>
          </a:xfrm>
          <a:prstGeom prst="rect">
            <a:avLst/>
          </a:prstGeom>
          <a:noFill/>
          <a:ln>
            <a:noFill/>
          </a:ln>
        </p:spPr>
        <p:txBody>
          <a:bodyPr wrap="square">
            <a:spAutoFit/>
          </a:bodyPr>
          <a:lstStyle/>
          <a:p>
            <a:pPr algn="l"/>
            <a:r>
              <a:rPr sz="1600" b="1">
                <a:solidFill>
                  <a:srgbClr val="1F2937"/>
                </a:solidFill>
              </a:rPr>
              <a:t>Figure 1. Fold-contained random-subspace screening workflow.</a:t>
            </a:r>
          </a:p>
        </p:txBody>
      </p:sp>
      <p:pic>
        <p:nvPicPr>
          <p:cNvPr id="12" name="Picture 11" descr="figure2_interpretability_context.png"/>
          <p:cNvPicPr>
            <a:picLocks noChangeAspect="1"/>
          </p:cNvPicPr>
          <p:nvPr/>
        </p:nvPicPr>
        <p:blipFill>
          <a:blip r:embed="rId3"/>
          <a:stretch>
            <a:fillRect/>
          </a:stretch>
        </p:blipFill>
        <p:spPr>
          <a:xfrm>
            <a:off x="11201400" y="7635240"/>
            <a:ext cx="16459200" cy="9984799"/>
          </a:xfrm>
          <a:prstGeom prst="rect">
            <a:avLst/>
          </a:prstGeom>
        </p:spPr>
      </p:pic>
      <p:sp>
        <p:nvSpPr>
          <p:cNvPr id="13" name="TextBox 12"/>
          <p:cNvSpPr txBox="1"/>
          <p:nvPr/>
        </p:nvSpPr>
        <p:spPr>
          <a:xfrm>
            <a:off x="11247120" y="18653760"/>
            <a:ext cx="19202400" cy="411480"/>
          </a:xfrm>
          <a:prstGeom prst="rect">
            <a:avLst/>
          </a:prstGeom>
          <a:noFill/>
          <a:ln>
            <a:noFill/>
          </a:ln>
        </p:spPr>
        <p:txBody>
          <a:bodyPr wrap="square">
            <a:spAutoFit/>
          </a:bodyPr>
          <a:lstStyle/>
          <a:p>
            <a:pPr algn="l"/>
            <a:r>
              <a:rPr sz="1600" b="1">
                <a:solidFill>
                  <a:srgbClr val="1F2937"/>
                </a:solidFill>
              </a:rPr>
              <a:t>Figure 2. Stability improves while internal CV5 performance is retained.</a:t>
            </a:r>
          </a:p>
        </p:txBody>
      </p:sp>
      <p:pic>
        <p:nvPicPr>
          <p:cNvPr id="14" name="Picture 13" descr="figure3_validation_and_baselines.png"/>
          <p:cNvPicPr>
            <a:picLocks noChangeAspect="1"/>
          </p:cNvPicPr>
          <p:nvPr/>
        </p:nvPicPr>
        <p:blipFill>
          <a:blip r:embed="rId4"/>
          <a:stretch>
            <a:fillRect/>
          </a:stretch>
        </p:blipFill>
        <p:spPr>
          <a:xfrm>
            <a:off x="11887200" y="19339560"/>
            <a:ext cx="15727680" cy="7670187"/>
          </a:xfrm>
          <a:prstGeom prst="rect">
            <a:avLst/>
          </a:prstGeom>
        </p:spPr>
      </p:pic>
      <p:sp>
        <p:nvSpPr>
          <p:cNvPr id="15" name="TextBox 14"/>
          <p:cNvSpPr txBox="1"/>
          <p:nvPr/>
        </p:nvSpPr>
        <p:spPr>
          <a:xfrm>
            <a:off x="11247120" y="27660600"/>
            <a:ext cx="19202400" cy="411480"/>
          </a:xfrm>
          <a:prstGeom prst="rect">
            <a:avLst/>
          </a:prstGeom>
          <a:noFill/>
          <a:ln>
            <a:noFill/>
          </a:ln>
        </p:spPr>
        <p:txBody>
          <a:bodyPr wrap="square">
            <a:spAutoFit/>
          </a:bodyPr>
          <a:lstStyle/>
          <a:p>
            <a:pPr algn="l"/>
            <a:r>
              <a:rPr sz="1600" b="1">
                <a:solidFill>
                  <a:srgbClr val="1F2937"/>
                </a:solidFill>
              </a:rPr>
              <a:t>Figure 3. Top30 baselines and METABRIC transfer place the workflow in context.</a:t>
            </a:r>
          </a:p>
        </p:txBody>
      </p:sp>
      <p:sp>
        <p:nvSpPr>
          <p:cNvPr id="16" name="Rectangle 15"/>
          <p:cNvSpPr/>
          <p:nvPr/>
        </p:nvSpPr>
        <p:spPr>
          <a:xfrm>
            <a:off x="32918400" y="2514600"/>
            <a:ext cx="9098280" cy="7955279"/>
          </a:xfrm>
          <a:prstGeom prst="rect">
            <a:avLst/>
          </a:prstGeom>
          <a:solidFill>
            <a:srgbClr val="FFF5F5"/>
          </a:solidFill>
          <a:ln w="12700">
            <a:solidFill>
              <a:srgbClr val="D2DBE5"/>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a:lstStyle/>
          <a:p>
            <a:pPr algn="ctr"/>
            <a:r>
              <a:rPr b="1" sz="2400">
                <a:solidFill>
                  <a:srgbClr val="7D2020"/>
                </a:solidFill>
              </a:rPr>
              <a:t>Key results</a:t>
            </a:r>
          </a:p>
          <a:p>
            <a:pPr>
              <a:spcBef>
                <a:spcPts val="800"/>
              </a:spcBef>
            </a:pPr>
            <a:r>
              <a:rPr sz="1800">
                <a:solidFill>
                  <a:srgbClr val="1F2937"/>
                </a:solidFill>
              </a:rPr>
              <a:t>Top100 fold stability: mean best small/consensus Jaccard 0.57 vs full 0.24.
Best prior-union recovery gain: 19.8 genes (TNBC status, batch 100).
Top internal CV5 deltas vs full Top2000:
- HER2 status: best batch 100, delta +0.005
- PAM50 without PAM50 genes: best batch 500, delta +0.004
- ER status: best batch 1000, delta +0.002</a:t>
            </a:r>
          </a:p>
        </p:txBody>
      </p:sp>
      <p:sp>
        <p:nvSpPr>
          <p:cNvPr id="17" name="Rectangle 16"/>
          <p:cNvSpPr/>
          <p:nvPr/>
        </p:nvSpPr>
        <p:spPr>
          <a:xfrm>
            <a:off x="32918400" y="10835640"/>
            <a:ext cx="9098280" cy="5943600"/>
          </a:xfrm>
          <a:prstGeom prst="rect">
            <a:avLst/>
          </a:prstGeom>
          <a:solidFill>
            <a:srgbClr val="F1F5F9"/>
          </a:solidFill>
          <a:ln w="12700">
            <a:solidFill>
              <a:srgbClr val="D2DBE5"/>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a:lstStyle/>
          <a:p>
            <a:pPr algn="ctr"/>
            <a:r>
              <a:rPr b="1" sz="2400">
                <a:solidFill>
                  <a:srgbClr val="7D2020"/>
                </a:solidFill>
              </a:rPr>
              <a:t>Interpretation</a:t>
            </a:r>
          </a:p>
          <a:p>
            <a:pPr>
              <a:spcBef>
                <a:spcPts val="800"/>
              </a:spcBef>
            </a:pPr>
            <a:r>
              <a:rPr sz="1800">
                <a:solidFill>
                  <a:srgbClr val="1F2937"/>
                </a:solidFill>
              </a:rPr>
              <a:t>The method turns feature selection into a stability audit. A gene is more credible when it recurs across folds, split seeds and local feature contexts, not simply because it wins one full-space ranking.</a:t>
            </a:r>
          </a:p>
        </p:txBody>
      </p:sp>
      <p:sp>
        <p:nvSpPr>
          <p:cNvPr id="18" name="Rectangle 17"/>
          <p:cNvSpPr/>
          <p:nvPr/>
        </p:nvSpPr>
        <p:spPr>
          <a:xfrm>
            <a:off x="32918400" y="17145000"/>
            <a:ext cx="9098280" cy="5669280"/>
          </a:xfrm>
          <a:prstGeom prst="rect">
            <a:avLst/>
          </a:prstGeom>
          <a:solidFill>
            <a:srgbClr val="FFFBEB"/>
          </a:solidFill>
          <a:ln w="12700">
            <a:solidFill>
              <a:srgbClr val="D2DBE5"/>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a:lstStyle/>
          <a:p>
            <a:pPr algn="ctr"/>
            <a:r>
              <a:rPr b="1" sz="2400">
                <a:solidFill>
                  <a:srgbClr val="7D2020"/>
                </a:solidFill>
              </a:rPr>
              <a:t>Limitations</a:t>
            </a:r>
          </a:p>
          <a:p>
            <a:pPr>
              <a:spcBef>
                <a:spcPts val="800"/>
              </a:spcBef>
            </a:pPr>
            <a:r>
              <a:rPr sz="1800">
                <a:solidFill>
                  <a:srgbClr val="1F2937"/>
                </a:solidFill>
              </a:rPr>
              <a:t>This is still a candidate-panel workflow. External validation is label-limited, tumour-normal has no METABRIC counterpart, and emerged genes need biological follow-up before mechanistic or clinical claims.</a:t>
            </a:r>
          </a:p>
        </p:txBody>
      </p:sp>
      <p:pic>
        <p:nvPicPr>
          <p:cNvPr id="19" name="Picture 18" descr="qr_github_pages.png"/>
          <p:cNvPicPr>
            <a:picLocks noChangeAspect="1"/>
          </p:cNvPicPr>
          <p:nvPr/>
        </p:nvPicPr>
        <p:blipFill>
          <a:blip r:embed="rId5"/>
          <a:stretch>
            <a:fillRect/>
          </a:stretch>
        </p:blipFill>
        <p:spPr>
          <a:xfrm>
            <a:off x="33009840" y="23500080"/>
            <a:ext cx="1828800" cy="1828800"/>
          </a:xfrm>
          <a:prstGeom prst="rect">
            <a:avLst/>
          </a:prstGeom>
        </p:spPr>
      </p:pic>
      <p:sp>
        <p:nvSpPr>
          <p:cNvPr id="20" name="TextBox 19"/>
          <p:cNvSpPr txBox="1"/>
          <p:nvPr/>
        </p:nvSpPr>
        <p:spPr>
          <a:xfrm>
            <a:off x="35067240" y="23500080"/>
            <a:ext cx="6858000" cy="2286000"/>
          </a:xfrm>
          <a:prstGeom prst="rect">
            <a:avLst/>
          </a:prstGeom>
          <a:noFill/>
          <a:ln>
            <a:noFill/>
          </a:ln>
        </p:spPr>
        <p:txBody>
          <a:bodyPr wrap="square">
            <a:spAutoFit/>
          </a:bodyPr>
          <a:lstStyle/>
          <a:p>
            <a:pPr algn="l"/>
            <a:r>
              <a:rPr sz="1400" b="0">
                <a:solidFill>
                  <a:srgbClr val="1F2937"/>
                </a:solidFill>
              </a:rPr>
              <a:t>Source code/data link placeholder
Contact: Tianqr18@gmail.com
Customer support for printing:
customer@postersessiononline.eu</a:t>
            </a:r>
          </a:p>
        </p:txBody>
      </p:sp>
      <p:sp>
        <p:nvSpPr>
          <p:cNvPr id="21" name="TextBox 20"/>
          <p:cNvSpPr txBox="1"/>
          <p:nvPr/>
        </p:nvSpPr>
        <p:spPr>
          <a:xfrm>
            <a:off x="32918400" y="28117800"/>
            <a:ext cx="8961120" cy="502920"/>
          </a:xfrm>
          <a:prstGeom prst="rect">
            <a:avLst/>
          </a:prstGeom>
          <a:noFill/>
          <a:ln>
            <a:noFill/>
          </a:ln>
        </p:spPr>
        <p:txBody>
          <a:bodyPr wrap="square">
            <a:spAutoFit/>
          </a:bodyPr>
          <a:lstStyle/>
          <a:p>
            <a:pPr algn="r"/>
            <a:r>
              <a:rPr sz="1300" b="0">
                <a:solidFill>
                  <a:srgbClr val="525C69"/>
                </a:solidFill>
              </a:rPr>
              <a:t>Poster file format: DIN A0 landscape, 1189 x 841 mm (46.8 x 33.1 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