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42793920" cy="302666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793920" cy="29718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26700480" cy="1005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4200" b="1">
                <a:solidFill>
                  <a:srgbClr val="FFFFFF"/>
                </a:solidFill>
                <a:latin typeface="Aptos"/>
              </a:rPr>
              <a:t>Top genes are not a single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27889200" cy="6400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E0ECF8"/>
                </a:solidFill>
                <a:latin typeface="Aptos"/>
              </a:rPr>
              <a:t>Leakage-aware repeated random-subspace XGBoost improves top-gene stability in TCGA-BRCA transcriptomic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077920" y="594360"/>
            <a:ext cx="1298448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Qirui Tian, Johannes Benedikt, Rachel Hargest, Wen G. Jiang, Tracey A. Martin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077920" y="1234440"/>
            <a:ext cx="1298448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0">
                <a:solidFill>
                  <a:srgbClr val="E0ECF8"/>
                </a:solidFill>
                <a:latin typeface="Aptos"/>
              </a:rPr>
              <a:t>CCMRC, Cardiff University, Cardiff, UK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077920" y="1874519"/>
            <a:ext cx="1298448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E0ECF8"/>
                </a:solidFill>
                <a:latin typeface="Aptos"/>
              </a:rPr>
              <a:t>EACR 2026 | Linkle: Qirui Tian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8026360"/>
            <a:ext cx="41605200" cy="1371600"/>
          </a:xfrm>
          <a:prstGeom prst="rect">
            <a:avLst/>
          </a:prstGeom>
          <a:solidFill>
            <a:srgbClr val="F7FAFC"/>
          </a:solidFill>
          <a:ln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8273248"/>
            <a:ext cx="1170432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45F6C"/>
                </a:solidFill>
                <a:latin typeface="Aptos"/>
              </a:rPr>
              <a:t>Study affiliation: CCMRC, Cardiff University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0" y="28273248"/>
            <a:ext cx="67665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F4E79"/>
                </a:solidFill>
                <a:latin typeface="Aptos"/>
              </a:rPr>
              <a:t>Linkle: Qirui Tian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482560" y="28273248"/>
            <a:ext cx="1005840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45F6C"/>
                </a:solidFill>
                <a:latin typeface="Aptos"/>
              </a:rPr>
              <a:t>Poster materials: insert final QR or URL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009840" y="28273248"/>
            <a:ext cx="81381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C44E4A"/>
                </a:solidFill>
                <a:latin typeface="Aptos"/>
              </a:rPr>
              <a:t>NovoRadiant | independent outreach</a:t>
            </a:r>
          </a:p>
        </p:txBody>
      </p:sp>
      <p:pic>
        <p:nvPicPr>
          <p:cNvPr id="13" name="Picture 12" descr="qr_github_p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65120" y="28181808"/>
            <a:ext cx="749808" cy="749808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85800" y="3429000"/>
            <a:ext cx="9509760" cy="53949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429000"/>
            <a:ext cx="9509760" cy="384048"/>
          </a:xfrm>
          <a:prstGeom prst="rect">
            <a:avLst/>
          </a:prstGeom>
          <a:solidFill>
            <a:srgbClr val="527EA5"/>
          </a:solidFill>
          <a:ln>
            <a:solidFill>
              <a:srgbClr val="527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3483864"/>
            <a:ext cx="9290304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INTRODUCTION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069080"/>
            <a:ext cx="8915400" cy="32461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545F6C"/>
                </a:solidFill>
                <a:latin typeface="Aptos"/>
              </a:rPr>
              <a:t>High-dimensional transcriptomic models are often interpreted through a single ranked gene list.</a:t>
            </a:r>
          </a:p>
          <a:p>
            <a:pPr algn="l">
              <a:spcAft>
                <a:spcPts val="200"/>
              </a:spcAft>
            </a:pP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545F6C"/>
                </a:solidFill>
                <a:latin typeface="Aptos"/>
              </a:rPr>
              <a:t>This is risky for two reasons: feature selection outside resampling can leak held-out information, and leakage-free rankings can still change across split seeds and folds.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9052560"/>
            <a:ext cx="9509760" cy="2743200"/>
          </a:xfrm>
          <a:prstGeom prst="roundRect">
            <a:avLst/>
          </a:prstGeom>
          <a:solidFill>
            <a:srgbClr val="F7FAFC"/>
          </a:solidFill>
          <a:ln w="1143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9052560"/>
            <a:ext cx="9509760" cy="384048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" y="9107424"/>
            <a:ext cx="9290304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OBJECTIVE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9646920"/>
            <a:ext cx="8915400" cy="1600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D1D1F"/>
                </a:solidFill>
                <a:latin typeface="Aptos"/>
              </a:rPr>
              <a:t>Test whether repeated, fold-contained local feature competition can make high-ranked genes more reproducible while preserving predictive performance.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12115800"/>
            <a:ext cx="9509760" cy="154076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12115800"/>
            <a:ext cx="9509760" cy="384048"/>
          </a:xfrm>
          <a:prstGeom prst="rect">
            <a:avLst/>
          </a:prstGeom>
          <a:solidFill>
            <a:srgbClr val="527EA5"/>
          </a:solidFill>
          <a:ln>
            <a:solidFill>
              <a:srgbClr val="527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8" y="12170664"/>
            <a:ext cx="9290304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METHODS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12755880"/>
            <a:ext cx="8915400" cy="1965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45F6C"/>
                </a:solidFill>
                <a:latin typeface="Aptos"/>
              </a:rPr>
              <a:t>TCGA-BRCA expression matrix: 1218 samples and 20530 genes.</a:t>
            </a:r>
          </a:p>
          <a:p>
            <a:pPr algn="l">
              <a:spcAft>
                <a:spcPts val="200"/>
              </a:spcAft>
            </a:pP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45F6C"/>
                </a:solidFill>
                <a:latin typeface="Aptos"/>
              </a:rPr>
              <a:t>Seven tasks: tumour-normal, PAM50 subtype, PAM50 without PAM50 genes, IHC subtype, ER, HER2 and TNBC status.</a:t>
            </a:r>
          </a:p>
          <a:p>
            <a:pPr algn="l">
              <a:spcAft>
                <a:spcPts val="200"/>
              </a:spcAft>
            </a:pP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45F6C"/>
                </a:solidFill>
                <a:latin typeface="Aptos"/>
              </a:rPr>
              <a:t>Feature selection was nested inside five-fold cross-validation.</a:t>
            </a:r>
          </a:p>
        </p:txBody>
      </p:sp>
      <p:pic>
        <p:nvPicPr>
          <p:cNvPr id="26" name="Picture 25" descr="fig1a_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5321552"/>
            <a:ext cx="8869680" cy="213813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60120" y="18242280"/>
            <a:ext cx="8915400" cy="7223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45F6C"/>
                </a:solidFill>
                <a:latin typeface="Aptos"/>
              </a:rPr>
              <a:t>Design controls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45F6C"/>
                </a:solidFill>
                <a:latin typeface="Aptos"/>
              </a:rPr>
              <a:t>1. Ranking occurs inside each training fold.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45F6C"/>
                </a:solidFill>
                <a:latin typeface="Aptos"/>
              </a:rPr>
              <a:t>2. Random batches create repeated local feature competition.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45F6C"/>
                </a:solidFill>
                <a:latin typeface="Aptos"/>
              </a:rPr>
              <a:t>3. Top100 Jaccard audits high-rank stability.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45F6C"/>
                </a:solidFill>
                <a:latin typeface="Aptos"/>
              </a:rPr>
              <a:t>4. BRCA/PAM50 genes are interpretation controls only.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45F6C"/>
                </a:solidFill>
                <a:latin typeface="Aptos"/>
              </a:rPr>
              <a:t>5. Logistic, elastic-net and METABRIC analyses constrain the claim.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25603200"/>
            <a:ext cx="8915400" cy="9601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C44E4A"/>
                </a:solidFill>
                <a:latin typeface="Aptos"/>
              </a:rPr>
              <a:t>Claim boundary: candidate-panel prioritisation, not biomarker validation.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698480" y="3429000"/>
            <a:ext cx="21168360" cy="240944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698480" y="3429000"/>
            <a:ext cx="21168360" cy="384048"/>
          </a:xfrm>
          <a:prstGeom prst="rect">
            <a:avLst/>
          </a:prstGeom>
          <a:solidFill>
            <a:srgbClr val="527EA5"/>
          </a:solidFill>
          <a:ln>
            <a:solidFill>
              <a:srgbClr val="527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08207" y="3483864"/>
            <a:ext cx="20948904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RESULTS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18520" y="4041648"/>
            <a:ext cx="20528280" cy="6583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D1D1F"/>
                </a:solidFill>
                <a:latin typeface="Aptos"/>
              </a:rPr>
              <a:t>Small-batch screening improved high-rank reproducibility while retaining internal CV5 performance.</a:t>
            </a:r>
          </a:p>
        </p:txBody>
      </p:sp>
      <p:pic>
        <p:nvPicPr>
          <p:cNvPr id="33" name="Picture 32" descr="figure2_interpretability_contex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51785" y="4892040"/>
            <a:ext cx="17861748" cy="1083564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1018520" y="15956280"/>
            <a:ext cx="20528280" cy="11887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45F6C"/>
                </a:solidFill>
                <a:latin typeface="Aptos"/>
              </a:rPr>
              <a:t>Figure 2. Full-space Top100 rankings were less stable than best small-batch or consensus rankings. Performance deltas remained close to zero, and prior-union recovery improved in receptor-status and subtype tasks.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018520" y="17602200"/>
            <a:ext cx="4754880" cy="2743200"/>
          </a:xfrm>
          <a:prstGeom prst="roundRect">
            <a:avLst/>
          </a:prstGeom>
          <a:solidFill>
            <a:srgbClr val="F7FAFC"/>
          </a:solidFill>
          <a:ln w="1143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155680" y="17876520"/>
            <a:ext cx="4480560" cy="594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2800" b="1">
                <a:solidFill>
                  <a:srgbClr val="1F4E79"/>
                </a:solidFill>
                <a:latin typeface="Aptos"/>
              </a:rPr>
              <a:t>0.57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55680" y="18699480"/>
            <a:ext cx="4480560" cy="7772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545F6C"/>
                </a:solidFill>
                <a:latin typeface="Aptos"/>
              </a:rPr>
              <a:t>mean best Top100 Jaccard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6139159" y="17602200"/>
            <a:ext cx="4754880" cy="2743200"/>
          </a:xfrm>
          <a:prstGeom prst="roundRect">
            <a:avLst/>
          </a:prstGeom>
          <a:solidFill>
            <a:srgbClr val="F7FAFC"/>
          </a:solidFill>
          <a:ln w="1143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6276320" y="17876520"/>
            <a:ext cx="4480560" cy="594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2800" b="1">
                <a:solidFill>
                  <a:srgbClr val="1F4E79"/>
                </a:solidFill>
                <a:latin typeface="Aptos"/>
              </a:rPr>
              <a:t>0.24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276320" y="18699480"/>
            <a:ext cx="4480560" cy="7772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545F6C"/>
                </a:solidFill>
                <a:latin typeface="Aptos"/>
              </a:rPr>
              <a:t>mean full-space Top100 Jaccard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1259800" y="17602200"/>
            <a:ext cx="4754880" cy="2743200"/>
          </a:xfrm>
          <a:prstGeom prst="roundRect">
            <a:avLst/>
          </a:prstGeom>
          <a:solidFill>
            <a:srgbClr val="F7FAFC"/>
          </a:solidFill>
          <a:ln w="1143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1396960" y="17876520"/>
            <a:ext cx="4480560" cy="594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2800" b="1">
                <a:solidFill>
                  <a:srgbClr val="1F4E79"/>
                </a:solidFill>
                <a:latin typeface="Aptos"/>
              </a:rPr>
              <a:t>6 / 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396960" y="18699480"/>
            <a:ext cx="4480560" cy="7772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545F6C"/>
                </a:solidFill>
                <a:latin typeface="Aptos"/>
              </a:rPr>
              <a:t>tasks within 0.005 of full Top2000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6380440" y="17602200"/>
            <a:ext cx="4754880" cy="2743200"/>
          </a:xfrm>
          <a:prstGeom prst="roundRect">
            <a:avLst/>
          </a:prstGeom>
          <a:solidFill>
            <a:srgbClr val="F7FAFC"/>
          </a:solidFill>
          <a:ln w="1143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6517600" y="17876520"/>
            <a:ext cx="4480560" cy="594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2800" b="1">
                <a:solidFill>
                  <a:srgbClr val="C44E4A"/>
                </a:solidFill>
                <a:latin typeface="Aptos"/>
              </a:rPr>
              <a:t>19.8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6517600" y="18699480"/>
            <a:ext cx="4480560" cy="7772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545F6C"/>
                </a:solidFill>
                <a:latin typeface="Aptos"/>
              </a:rPr>
              <a:t>largest mean prior-gene recovery gain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018520" y="21031200"/>
            <a:ext cx="20528280" cy="43891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545F6C"/>
                </a:solidFill>
                <a:latin typeface="Aptos"/>
              </a:rPr>
              <a:t>Primary finding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545F6C"/>
                </a:solidFill>
                <a:latin typeface="Aptos"/>
              </a:rPr>
              <a:t>Best small-batch or consensus rankings increased Top100 fold-stability across all seven tasks while retaining internal CV5 performance. Prior-gene recovery supported interpretability, but recovered genes remain candidates for follow-up rather than validated biomarkers.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2324040" y="3429000"/>
            <a:ext cx="9784080" cy="99669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2324040" y="3429000"/>
            <a:ext cx="9784080" cy="384048"/>
          </a:xfrm>
          <a:prstGeom prst="rect">
            <a:avLst/>
          </a:prstGeom>
          <a:solidFill>
            <a:srgbClr val="527EA5"/>
          </a:solidFill>
          <a:ln>
            <a:solidFill>
              <a:srgbClr val="527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2433768" y="3483864"/>
            <a:ext cx="9564624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VALIDATION</a:t>
            </a:r>
          </a:p>
        </p:txBody>
      </p:sp>
      <p:pic>
        <p:nvPicPr>
          <p:cNvPr id="51" name="Picture 50" descr="figure3_validation_and_baselin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44080" y="4193954"/>
            <a:ext cx="9144000" cy="445941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32644080" y="9052560"/>
            <a:ext cx="9144000" cy="2880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45F6C"/>
                </a:solidFill>
                <a:latin typeface="Aptos"/>
              </a:rPr>
              <a:t>Top30 panels retained task signal under XGBoost, logistic regression and elastic net. METABRIC transfer was evaluated only for label-compatible primary-tumour tasks.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2324040" y="13853160"/>
            <a:ext cx="9784080" cy="50749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2324040" y="13853160"/>
            <a:ext cx="9784080" cy="384048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433768" y="13908024"/>
            <a:ext cx="9564624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EXPLORATORY PROGNOSIS</a:t>
            </a:r>
          </a:p>
        </p:txBody>
      </p:sp>
      <p:pic>
        <p:nvPicPr>
          <p:cNvPr id="56" name="Picture 55" descr="prognosis_latest_internal_external_cinde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082611" y="14493240"/>
            <a:ext cx="4266937" cy="274320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32644080" y="17373600"/>
            <a:ext cx="9144000" cy="8686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45F6C"/>
                </a:solidFill>
                <a:latin typeface="Aptos"/>
              </a:rPr>
              <a:t>Retained as exploratory evidence because endpoint mapping and cross-cohort calibration add uncertainty.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2324040" y="19385280"/>
            <a:ext cx="9784080" cy="81381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2324040" y="19385280"/>
            <a:ext cx="9784080" cy="384048"/>
          </a:xfrm>
          <a:prstGeom prst="rect">
            <a:avLst/>
          </a:prstGeom>
          <a:solidFill>
            <a:srgbClr val="527EA5"/>
          </a:solidFill>
          <a:ln>
            <a:solidFill>
              <a:srgbClr val="527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2433768" y="19440144"/>
            <a:ext cx="9564624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DISCUSSION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2644080" y="20025360"/>
            <a:ext cx="9144000" cy="4572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45F6C"/>
                </a:solidFill>
                <a:latin typeface="Aptos"/>
              </a:rPr>
              <a:t>Interpretation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45F6C"/>
                </a:solidFill>
                <a:latin typeface="Aptos"/>
              </a:rPr>
              <a:t>Repeated fold-contained screening provides an audit layer for transcriptomic machine-learning studies. It helps distinguish predictive tasks that are accurate from gene rankings that are also reproducible.</a:t>
            </a:r>
          </a:p>
          <a:p>
            <a:pPr algn="l">
              <a:spcAft>
                <a:spcPts val="200"/>
              </a:spcAft>
            </a:pP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45F6C"/>
                </a:solidFill>
                <a:latin typeface="Aptos"/>
              </a:rPr>
              <a:t>Limitations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45F6C"/>
                </a:solidFill>
                <a:latin typeface="Aptos"/>
              </a:rPr>
              <a:t>- Candidate-panel study, not biomarker validation.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45F6C"/>
                </a:solidFill>
                <a:latin typeface="Aptos"/>
              </a:rPr>
              <a:t>- METABRIC validation is label-limited.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45F6C"/>
                </a:solidFill>
                <a:latin typeface="Aptos"/>
              </a:rPr>
              <a:t>- Recovered genes require biological follow-up.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2644080" y="24963120"/>
            <a:ext cx="9144000" cy="1508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C44E4A"/>
                </a:solidFill>
                <a:latin typeface="Aptos"/>
              </a:rPr>
              <a:t>Take-home: a high model score does not make one top-gene list definitive.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