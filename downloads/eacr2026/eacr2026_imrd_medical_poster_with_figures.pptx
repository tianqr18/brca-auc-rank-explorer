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42793920" cy="3026664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2793920" cy="2971800"/>
          </a:xfrm>
          <a:prstGeom prst="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320040"/>
            <a:ext cx="26700480" cy="10058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4200" b="1">
                <a:solidFill>
                  <a:srgbClr val="FFFFFF"/>
                </a:solidFill>
                <a:latin typeface="Aptos"/>
              </a:rPr>
              <a:t>Top genes are not a single 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417320"/>
            <a:ext cx="27889200" cy="6400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1">
                <a:solidFill>
                  <a:srgbClr val="E0ECF8"/>
                </a:solidFill>
                <a:latin typeface="Aptos"/>
              </a:rPr>
              <a:t>Leakage-aware repeated random-subspace XGBoost improves top-gene stability in TCGA-BRCA transcriptomic models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077920" y="594360"/>
            <a:ext cx="1298448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Qirui Tian, Johannes Benedikt, Rachel Hargest, Wen G. Jiang, Tracey A. Martin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077920" y="1234440"/>
            <a:ext cx="1298448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200"/>
              </a:spcAft>
            </a:pPr>
            <a:r>
              <a:rPr sz="1100" b="0">
                <a:solidFill>
                  <a:srgbClr val="E0ECF8"/>
                </a:solidFill>
                <a:latin typeface="Aptos"/>
              </a:rPr>
              <a:t>CCMRC, Cardiff University, Cardiff, UK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077920" y="1874519"/>
            <a:ext cx="1298448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200"/>
              </a:spcAft>
            </a:pPr>
            <a:r>
              <a:rPr sz="1100" b="1">
                <a:solidFill>
                  <a:srgbClr val="E0ECF8"/>
                </a:solidFill>
                <a:latin typeface="Aptos"/>
              </a:rPr>
              <a:t>EACR 2026 | Linkle: Qirui Tian</a:t>
            </a:r>
          </a:p>
        </p:txBody>
      </p:sp>
      <p:sp>
        <p:nvSpPr>
          <p:cNvPr id="8" name="Rectangle 7"/>
          <p:cNvSpPr/>
          <p:nvPr/>
        </p:nvSpPr>
        <p:spPr>
          <a:xfrm>
            <a:off x="594360" y="28026360"/>
            <a:ext cx="41605200" cy="1371600"/>
          </a:xfrm>
          <a:prstGeom prst="rect">
            <a:avLst/>
          </a:prstGeom>
          <a:solidFill>
            <a:srgbClr val="F7FAFC"/>
          </a:solidFill>
          <a:ln>
            <a:solidFill>
              <a:srgbClr val="D8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8273248"/>
            <a:ext cx="1170432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545F6C"/>
                </a:solidFill>
                <a:latin typeface="Aptos"/>
              </a:rPr>
              <a:t>Study affiliation: CCMRC, Cardiff University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984480" y="28273248"/>
            <a:ext cx="67665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1F4E79"/>
                </a:solidFill>
                <a:latin typeface="Aptos"/>
              </a:rPr>
              <a:t>Linkle: Qirui Tian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482560" y="28273248"/>
            <a:ext cx="1005840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545F6C"/>
                </a:solidFill>
                <a:latin typeface="Aptos"/>
              </a:rPr>
              <a:t>Poster materials: insert final QR or URL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009840" y="28273248"/>
            <a:ext cx="81381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200"/>
              </a:spcAft>
            </a:pPr>
            <a:r>
              <a:rPr sz="1000" b="0">
                <a:solidFill>
                  <a:srgbClr val="C44E4A"/>
                </a:solidFill>
                <a:latin typeface="Aptos"/>
              </a:rPr>
              <a:t>NovoRadiant | independent outreach</a:t>
            </a:r>
          </a:p>
        </p:txBody>
      </p:sp>
      <p:pic>
        <p:nvPicPr>
          <p:cNvPr id="13" name="Picture 12" descr="qr_github_pag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965120" y="28181808"/>
            <a:ext cx="749808" cy="749808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685800" y="3429000"/>
            <a:ext cx="9509760" cy="5394960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D8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85800" y="3429000"/>
            <a:ext cx="9509760" cy="384048"/>
          </a:xfrm>
          <a:prstGeom prst="rect">
            <a:avLst/>
          </a:prstGeom>
          <a:solidFill>
            <a:srgbClr val="527EA5"/>
          </a:solidFill>
          <a:ln>
            <a:solidFill>
              <a:srgbClr val="527E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5528" y="3483864"/>
            <a:ext cx="9290304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INTRODUCTION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" y="4069080"/>
            <a:ext cx="8915400" cy="32461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545F6C"/>
                </a:solidFill>
                <a:latin typeface="Aptos"/>
              </a:rPr>
              <a:t>Transcriptomic biomarker studies often compress a high-dimensional model into a single Top-K gene list. This can make the result look more definitive than it is.</a:t>
            </a:r>
          </a:p>
          <a:p>
            <a:pPr algn="l">
              <a:spcAft>
                <a:spcPts val="200"/>
              </a:spcAft>
            </a:pP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545F6C"/>
                </a:solidFill>
                <a:latin typeface="Aptos"/>
              </a:rPr>
              <a:t>Two risks are especially important: feature selection outside resampling can leak held-out information, and leakage-free rankings can still change when folds or split seeds change because correlated genes compete for similar predictive signal.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" y="9052560"/>
            <a:ext cx="9509760" cy="2743200"/>
          </a:xfrm>
          <a:prstGeom prst="roundRect">
            <a:avLst/>
          </a:prstGeom>
          <a:solidFill>
            <a:srgbClr val="F7FAFC"/>
          </a:solidFill>
          <a:ln w="11430">
            <a:solidFill>
              <a:srgbClr val="D8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85800" y="9052560"/>
            <a:ext cx="9509760" cy="384048"/>
          </a:xfrm>
          <a:prstGeom prst="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5528" y="9107424"/>
            <a:ext cx="9290304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OBJECTIVE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9646920"/>
            <a:ext cx="8915400" cy="1600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1D1D1F"/>
                </a:solidFill>
                <a:latin typeface="Aptos"/>
              </a:rPr>
              <a:t>Test whether repeated, fold-contained local feature competition can make high-ranked genes more reproducible while preserving predictive performance.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5800" y="12115800"/>
            <a:ext cx="9509760" cy="15407640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D8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85800" y="12115800"/>
            <a:ext cx="9509760" cy="384048"/>
          </a:xfrm>
          <a:prstGeom prst="rect">
            <a:avLst/>
          </a:prstGeom>
          <a:solidFill>
            <a:srgbClr val="527EA5"/>
          </a:solidFill>
          <a:ln>
            <a:solidFill>
              <a:srgbClr val="527E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95528" y="12170664"/>
            <a:ext cx="9290304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METHODS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" y="12755880"/>
            <a:ext cx="8915400" cy="20116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45F6C"/>
                </a:solidFill>
                <a:latin typeface="Aptos"/>
              </a:rPr>
              <a:t>TCGA-BRCA expression matrix: 1218 samples, 20530 genes and seven classification tasks.</a:t>
            </a:r>
          </a:p>
          <a:p>
            <a:pPr algn="l">
              <a:spcAft>
                <a:spcPts val="200"/>
              </a:spcAft>
            </a:pP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545F6C"/>
                </a:solidFill>
                <a:latin typeface="Aptos"/>
              </a:rPr>
              <a:t>All feature selection was nested inside five-fold cross-validation. Held-out folds were not used for filtering, ranking, scaling or panel construction.</a:t>
            </a:r>
          </a:p>
        </p:txBody>
      </p:sp>
      <p:pic>
        <p:nvPicPr>
          <p:cNvPr id="26" name="Picture 25" descr="fig1a_work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" y="15321552"/>
            <a:ext cx="8869680" cy="2138135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60120" y="18242280"/>
            <a:ext cx="8915400" cy="72237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45F6C"/>
                </a:solidFill>
                <a:latin typeface="Aptos"/>
              </a:rPr>
              <a:t>Pipeline details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545F6C"/>
                </a:solidFill>
                <a:latin typeface="Aptos"/>
              </a:rPr>
              <a:t>1. Genes were repeatedly assigned to local batches of 100, 250, 500 or 1000 genes.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545F6C"/>
                </a:solidFill>
                <a:latin typeface="Aptos"/>
              </a:rPr>
              <a:t>2. Shallow XGBoost models ranked genes within each training fold.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545F6C"/>
                </a:solidFill>
                <a:latin typeface="Aptos"/>
              </a:rPr>
              <a:t>3. Fold-specific Top2000 panels were retrained and compared with fold-matched full Top2000 panels.</a:t>
            </a:r>
          </a:p>
          <a:p>
            <a:pPr algn="l">
              <a:spcAft>
                <a:spcPts val="200"/>
              </a:spcAft>
            </a:pP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545F6C"/>
                </a:solidFill>
                <a:latin typeface="Aptos"/>
              </a:rPr>
              <a:t>Audit controls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545F6C"/>
                </a:solidFill>
                <a:latin typeface="Aptos"/>
              </a:rPr>
              <a:t>Top100 Jaccard measured high-rank reproducibility. BRCA/PAM50 genes were used only as interpretation controls. Logistic, elastic-net and METABRIC analyses constrained model-specific claims.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0120" y="25603200"/>
            <a:ext cx="8915400" cy="9601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C44E4A"/>
                </a:solidFill>
                <a:latin typeface="Aptos"/>
              </a:rPr>
              <a:t>Claim boundary: candidate-panel prioritisation, not biomarker validation.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698480" y="3429000"/>
            <a:ext cx="21168360" cy="24094440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D8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0698480" y="3429000"/>
            <a:ext cx="21168360" cy="384048"/>
          </a:xfrm>
          <a:prstGeom prst="rect">
            <a:avLst/>
          </a:prstGeom>
          <a:solidFill>
            <a:srgbClr val="527EA5"/>
          </a:solidFill>
          <a:ln>
            <a:solidFill>
              <a:srgbClr val="527E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808207" y="3483864"/>
            <a:ext cx="20948904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RESULTS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018520" y="4041648"/>
            <a:ext cx="20528280" cy="6583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1">
                <a:solidFill>
                  <a:srgbClr val="1D1D1F"/>
                </a:solidFill>
                <a:latin typeface="Aptos"/>
              </a:rPr>
              <a:t>Small-batch screening improved high-rank reproducibility while retaining internal CV5 performance.</a:t>
            </a:r>
          </a:p>
        </p:txBody>
      </p:sp>
      <p:pic>
        <p:nvPicPr>
          <p:cNvPr id="33" name="Picture 32" descr="figure2_interpretability_contex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351785" y="4892040"/>
            <a:ext cx="17861748" cy="1083564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11018520" y="15956280"/>
            <a:ext cx="20528280" cy="11887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45F6C"/>
                </a:solidFill>
                <a:latin typeface="Aptos"/>
              </a:rPr>
              <a:t>Figure 2. Full-space Top100 rankings were less stable than best small-batch or consensus rankings. Performance deltas remained close to zero, and prior-union recovery improved in receptor-status and subtype tasks.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1018520" y="17602200"/>
            <a:ext cx="4754880" cy="2743200"/>
          </a:xfrm>
          <a:prstGeom prst="roundRect">
            <a:avLst/>
          </a:prstGeom>
          <a:solidFill>
            <a:srgbClr val="F7FAFC"/>
          </a:solidFill>
          <a:ln w="11430">
            <a:solidFill>
              <a:srgbClr val="D8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1155680" y="17876520"/>
            <a:ext cx="4480560" cy="5943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200"/>
              </a:spcAft>
            </a:pPr>
            <a:r>
              <a:rPr sz="2800" b="1">
                <a:solidFill>
                  <a:srgbClr val="1F4E79"/>
                </a:solidFill>
                <a:latin typeface="Aptos"/>
              </a:rPr>
              <a:t>0.57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155680" y="18699480"/>
            <a:ext cx="4480560" cy="7772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200"/>
              </a:spcAft>
            </a:pPr>
            <a:r>
              <a:rPr sz="1000" b="0">
                <a:solidFill>
                  <a:srgbClr val="545F6C"/>
                </a:solidFill>
                <a:latin typeface="Aptos"/>
              </a:rPr>
              <a:t>mean best Top100 Jaccard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6139159" y="17602200"/>
            <a:ext cx="4754880" cy="2743200"/>
          </a:xfrm>
          <a:prstGeom prst="roundRect">
            <a:avLst/>
          </a:prstGeom>
          <a:solidFill>
            <a:srgbClr val="F7FAFC"/>
          </a:solidFill>
          <a:ln w="11430">
            <a:solidFill>
              <a:srgbClr val="D8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6276320" y="17876520"/>
            <a:ext cx="4480560" cy="5943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200"/>
              </a:spcAft>
            </a:pPr>
            <a:r>
              <a:rPr sz="2800" b="1">
                <a:solidFill>
                  <a:srgbClr val="1F4E79"/>
                </a:solidFill>
                <a:latin typeface="Aptos"/>
              </a:rPr>
              <a:t>0.24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6276320" y="18699480"/>
            <a:ext cx="4480560" cy="7772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200"/>
              </a:spcAft>
            </a:pPr>
            <a:r>
              <a:rPr sz="1000" b="0">
                <a:solidFill>
                  <a:srgbClr val="545F6C"/>
                </a:solidFill>
                <a:latin typeface="Aptos"/>
              </a:rPr>
              <a:t>mean full-space Top100 Jaccard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21259800" y="17602200"/>
            <a:ext cx="4754880" cy="2743200"/>
          </a:xfrm>
          <a:prstGeom prst="roundRect">
            <a:avLst/>
          </a:prstGeom>
          <a:solidFill>
            <a:srgbClr val="F7FAFC"/>
          </a:solidFill>
          <a:ln w="11430">
            <a:solidFill>
              <a:srgbClr val="D8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1396960" y="17876520"/>
            <a:ext cx="4480560" cy="5943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200"/>
              </a:spcAft>
            </a:pPr>
            <a:r>
              <a:rPr sz="2800" b="1">
                <a:solidFill>
                  <a:srgbClr val="1F4E79"/>
                </a:solidFill>
                <a:latin typeface="Aptos"/>
              </a:rPr>
              <a:t>6 / 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1396960" y="18699480"/>
            <a:ext cx="4480560" cy="7772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200"/>
              </a:spcAft>
            </a:pPr>
            <a:r>
              <a:rPr sz="1000" b="0">
                <a:solidFill>
                  <a:srgbClr val="545F6C"/>
                </a:solidFill>
                <a:latin typeface="Aptos"/>
              </a:rPr>
              <a:t>tasks within 0.005 of full Top2000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26380440" y="17602200"/>
            <a:ext cx="4754880" cy="2743200"/>
          </a:xfrm>
          <a:prstGeom prst="roundRect">
            <a:avLst/>
          </a:prstGeom>
          <a:solidFill>
            <a:srgbClr val="F7FAFC"/>
          </a:solidFill>
          <a:ln w="11430">
            <a:solidFill>
              <a:srgbClr val="D8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6517600" y="17876520"/>
            <a:ext cx="4480560" cy="5943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200"/>
              </a:spcAft>
            </a:pPr>
            <a:r>
              <a:rPr sz="2800" b="1">
                <a:solidFill>
                  <a:srgbClr val="C44E4A"/>
                </a:solidFill>
                <a:latin typeface="Aptos"/>
              </a:rPr>
              <a:t>19.8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6517600" y="18699480"/>
            <a:ext cx="4480560" cy="7772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200"/>
              </a:spcAft>
            </a:pPr>
            <a:r>
              <a:rPr sz="1000" b="0">
                <a:solidFill>
                  <a:srgbClr val="545F6C"/>
                </a:solidFill>
                <a:latin typeface="Aptos"/>
              </a:rPr>
              <a:t>largest mean prior-gene recovery gain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018520" y="21031200"/>
            <a:ext cx="20528280" cy="43891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545F6C"/>
                </a:solidFill>
                <a:latin typeface="Aptos"/>
              </a:rPr>
              <a:t>Primary findings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545F6C"/>
                </a:solidFill>
                <a:latin typeface="Aptos"/>
              </a:rPr>
              <a:t>1. Stability: best small-batch or consensus rankings increased Top100 fold-stability across all seven tasks.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545F6C"/>
                </a:solidFill>
                <a:latin typeface="Aptos"/>
              </a:rPr>
              <a:t>2. Performance: internal CV5 performance was retained relative to fold-matched full Top2000 panels.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545F6C"/>
                </a:solidFill>
                <a:latin typeface="Aptos"/>
              </a:rPr>
              <a:t>3. Interpretability: prior-gene recovery improved in receptor-status and subtype-related tasks.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545F6C"/>
                </a:solidFill>
                <a:latin typeface="Aptos"/>
              </a:rPr>
              <a:t>4. Boundary: recovered genes are candidate signals for follow-up, not validated biomarkers.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2324040" y="3429000"/>
            <a:ext cx="9784080" cy="9966960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D8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32324040" y="3429000"/>
            <a:ext cx="9784080" cy="384048"/>
          </a:xfrm>
          <a:prstGeom prst="rect">
            <a:avLst/>
          </a:prstGeom>
          <a:solidFill>
            <a:srgbClr val="527EA5"/>
          </a:solidFill>
          <a:ln>
            <a:solidFill>
              <a:srgbClr val="527E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2433768" y="3483864"/>
            <a:ext cx="9564624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VALIDATION</a:t>
            </a:r>
          </a:p>
        </p:txBody>
      </p:sp>
      <p:pic>
        <p:nvPicPr>
          <p:cNvPr id="51" name="Picture 50" descr="figure3_validation_and_baseline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644080" y="4533373"/>
            <a:ext cx="9144000" cy="3780572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32644080" y="9052560"/>
            <a:ext cx="9144000" cy="28803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45F6C"/>
                </a:solidFill>
                <a:latin typeface="Aptos"/>
              </a:rPr>
              <a:t>Top30 panels retained task signal under XGBoost, logistic regression and elastic net, indicating that the classification signal was not restricted to one model family.</a:t>
            </a:r>
          </a:p>
          <a:p>
            <a:pPr algn="l">
              <a:spcAft>
                <a:spcPts val="200"/>
              </a:spcAft>
            </a:pP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545F6C"/>
                </a:solidFill>
                <a:latin typeface="Aptos"/>
              </a:rPr>
              <a:t>METABRIC transfer was evaluated only for label-compatible primary-tumour tasks and used as external context, not as proof of universal superiority.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32324040" y="13853160"/>
            <a:ext cx="9784080" cy="5074920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D8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32324040" y="13853160"/>
            <a:ext cx="9784080" cy="384048"/>
          </a:xfrm>
          <a:prstGeom prst="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2433768" y="13908024"/>
            <a:ext cx="9564624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EXPLORATORY PROGNOSIS</a:t>
            </a:r>
          </a:p>
        </p:txBody>
      </p:sp>
      <p:pic>
        <p:nvPicPr>
          <p:cNvPr id="56" name="Picture 55" descr="prognosis_latest_internal_regression_elasticnet_cindex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027180" y="14493240"/>
            <a:ext cx="4377798" cy="2743200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32644080" y="17373600"/>
            <a:ext cx="9144000" cy="8686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545F6C"/>
                </a:solidFill>
                <a:latin typeface="Aptos"/>
              </a:rPr>
              <a:t>Retained as exploratory evidence because endpoint mapping and cross-cohort calibration add uncertainty.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32324040" y="19385280"/>
            <a:ext cx="9784080" cy="8138160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D8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32324040" y="19385280"/>
            <a:ext cx="9784080" cy="384048"/>
          </a:xfrm>
          <a:prstGeom prst="rect">
            <a:avLst/>
          </a:prstGeom>
          <a:solidFill>
            <a:srgbClr val="527EA5"/>
          </a:solidFill>
          <a:ln>
            <a:solidFill>
              <a:srgbClr val="527E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2433768" y="19440144"/>
            <a:ext cx="9564624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DISCUSSION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2644080" y="20025360"/>
            <a:ext cx="9144000" cy="45720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45F6C"/>
                </a:solidFill>
                <a:latin typeface="Aptos"/>
              </a:rPr>
              <a:t>Interpretation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545F6C"/>
                </a:solidFill>
                <a:latin typeface="Aptos"/>
              </a:rPr>
              <a:t>Repeated fold-contained screening provides an audit layer for transcriptomic machine-learning studies. It helps distinguish predictive tasks that are accurate from gene rankings that are also reproducible enough to justify biological follow-up.</a:t>
            </a:r>
          </a:p>
          <a:p>
            <a:pPr algn="l">
              <a:spcAft>
                <a:spcPts val="200"/>
              </a:spcAft>
            </a:pP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545F6C"/>
                </a:solidFill>
                <a:latin typeface="Aptos"/>
              </a:rPr>
              <a:t>Limitations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545F6C"/>
                </a:solidFill>
                <a:latin typeface="Aptos"/>
              </a:rPr>
              <a:t>This is a candidate-panel study, not biomarker validation. METABRIC validation is label-limited, tumour-normal transfer was unavailable, and recovered genes require biological follow-up before mechanistic or clinical claims.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2644080" y="24963120"/>
            <a:ext cx="9144000" cy="15087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C44E4A"/>
                </a:solidFill>
                <a:latin typeface="Aptos"/>
              </a:rPr>
              <a:t>Take-home: a high model score does not make one top-gene list definitive.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