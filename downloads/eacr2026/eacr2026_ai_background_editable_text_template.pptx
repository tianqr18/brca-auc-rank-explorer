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2793920" cy="30266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oster_ai_blank_background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2793920" cy="302666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94560" y="914400"/>
            <a:ext cx="22402800" cy="11887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4400" b="1">
                <a:solidFill>
                  <a:srgbClr val="1D1D1F"/>
                </a:solidFill>
                <a:latin typeface="Aptos"/>
              </a:rPr>
              <a:t>Top genes are not a single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40280" y="2148840"/>
            <a:ext cx="2359152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315F8A"/>
                </a:solidFill>
                <a:latin typeface="Aptos"/>
              </a:rPr>
              <a:t>Leakage-aware repeated random-subspace XGBoost improves top-gene stability in TCGA-BRCA transcriptomic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151840" y="1143000"/>
            <a:ext cx="137160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1D1D1F"/>
                </a:solidFill>
                <a:latin typeface="Aptos"/>
              </a:rPr>
              <a:t>Qirui Tian, Johannes Benedikt, Rachel Hargest, Wen G. Jiang, Tracey A. Martin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151840" y="1783080"/>
            <a:ext cx="135331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606A77"/>
                </a:solidFill>
                <a:latin typeface="Aptos"/>
              </a:rPr>
              <a:t>CCMRC, Cardiff University, Cardiff, 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0" y="2514600"/>
            <a:ext cx="135331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315F8A"/>
                </a:solidFill>
                <a:latin typeface="Aptos"/>
              </a:rPr>
              <a:t>Linkle: Qirui Tian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6126480"/>
            <a:ext cx="81381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315F8A"/>
                </a:solidFill>
                <a:latin typeface="Aptos"/>
              </a:rPr>
              <a:t>BACKGROUND /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6537960"/>
            <a:ext cx="8138160" cy="1920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606A77"/>
                </a:solidFill>
                <a:latin typeface="Aptos"/>
              </a:rPr>
              <a:t>Transcriptomic biomarker models are often interpreted through a single ranked gene list.</a:t>
            </a:r>
          </a:p>
          <a:p>
            <a:pPr algn="l"/>
          </a:p>
          <a:p>
            <a:pPr algn="l"/>
            <a:r>
              <a:rPr sz="1300" b="0">
                <a:solidFill>
                  <a:srgbClr val="606A77"/>
                </a:solidFill>
                <a:latin typeface="Aptos"/>
              </a:rPr>
              <a:t>Leakage-prone preprocessing and split-dependent ranking instability can both make top genes appear more definitive than they 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9875520"/>
            <a:ext cx="813816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315F8A"/>
                </a:solidFill>
                <a:latin typeface="Aptos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0287000"/>
            <a:ext cx="8138160" cy="1920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606A77"/>
                </a:solidFill>
                <a:latin typeface="Aptos"/>
              </a:rPr>
              <a:t>Test whether repeated, fold-contained local feature competition can make high-ranked genes more reproducible while preserving predictive performance.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309360"/>
            <a:ext cx="1975104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315F8A"/>
                </a:solidFill>
                <a:latin typeface="Aptos"/>
              </a:rPr>
              <a:t>METHODS: LEAKAGE-AWARE REPEATED RANDOM-SUBSPACE XGBOOST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8778240"/>
            <a:ext cx="1938528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0">
                <a:solidFill>
                  <a:srgbClr val="606A77"/>
                </a:solidFill>
                <a:latin typeface="Aptos"/>
              </a:rPr>
              <a:t>TCGA-BRCA expression matrix  -&gt;  five-fold split  -&gt;  random gene batches  -&gt;  shallow XGBoost ranking  -&gt;  fold-specific Top2000 panels  -&gt;  stability and validation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0" y="6217920"/>
            <a:ext cx="77724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315F8A"/>
                </a:solidFill>
                <a:latin typeface="Aptos"/>
              </a:rPr>
              <a:t>AT A GLANCE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009840" y="6903720"/>
            <a:ext cx="347472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600" b="1">
                <a:solidFill>
                  <a:srgbClr val="315F8A"/>
                </a:solidFill>
                <a:latin typeface="Aptos"/>
              </a:rPr>
              <a:t>0.57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04600" y="6903720"/>
            <a:ext cx="347472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600" b="1">
                <a:solidFill>
                  <a:srgbClr val="315F8A"/>
                </a:solidFill>
                <a:latin typeface="Aptos"/>
              </a:rPr>
              <a:t>0.24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009840" y="7818120"/>
            <a:ext cx="34747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00" b="0">
                <a:solidFill>
                  <a:srgbClr val="606A77"/>
                </a:solidFill>
                <a:latin typeface="Aptos"/>
              </a:rPr>
              <a:t>best Top100</a:t>
            </a:r>
          </a:p>
          <a:p>
            <a:pPr algn="ctr"/>
            <a:r>
              <a:rPr sz="1000" b="0">
                <a:solidFill>
                  <a:srgbClr val="606A77"/>
                </a:solidFill>
                <a:latin typeface="Aptos"/>
              </a:rPr>
              <a:t>Jaccard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04600" y="7818120"/>
            <a:ext cx="34747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00" b="0">
                <a:solidFill>
                  <a:srgbClr val="606A77"/>
                </a:solidFill>
                <a:latin typeface="Aptos"/>
              </a:rPr>
              <a:t>full-space</a:t>
            </a:r>
          </a:p>
          <a:p>
            <a:pPr algn="ctr"/>
            <a:r>
              <a:rPr sz="1000" b="0">
                <a:solidFill>
                  <a:srgbClr val="606A77"/>
                </a:solidFill>
                <a:latin typeface="Aptos"/>
              </a:rPr>
              <a:t>Top100 Jaccard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009840" y="9144000"/>
            <a:ext cx="347472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400" b="1">
                <a:solidFill>
                  <a:srgbClr val="315F8A"/>
                </a:solidFill>
                <a:latin typeface="Aptos"/>
              </a:rPr>
              <a:t>6 /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804600" y="9144000"/>
            <a:ext cx="347472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400" b="1">
                <a:solidFill>
                  <a:srgbClr val="C44E4A"/>
                </a:solidFill>
                <a:latin typeface="Aptos"/>
              </a:rPr>
              <a:t>Top30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009840" y="10058400"/>
            <a:ext cx="34747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00" b="0">
                <a:solidFill>
                  <a:srgbClr val="606A77"/>
                </a:solidFill>
                <a:latin typeface="Aptos"/>
              </a:rPr>
              <a:t>within 0.005</a:t>
            </a:r>
          </a:p>
          <a:p>
            <a:pPr algn="ctr"/>
            <a:r>
              <a:rPr sz="1000" b="0">
                <a:solidFill>
                  <a:srgbClr val="606A77"/>
                </a:solidFill>
                <a:latin typeface="Aptos"/>
              </a:rPr>
              <a:t>of full Top2000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04600" y="10058400"/>
            <a:ext cx="347472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000" b="0">
                <a:solidFill>
                  <a:srgbClr val="606A77"/>
                </a:solidFill>
                <a:latin typeface="Aptos"/>
              </a:rPr>
              <a:t>panels supplied</a:t>
            </a:r>
          </a:p>
          <a:p>
            <a:pPr algn="ctr"/>
            <a:r>
              <a:rPr sz="1000" b="0">
                <a:solidFill>
                  <a:srgbClr val="606A77"/>
                </a:solidFill>
                <a:latin typeface="Aptos"/>
              </a:rPr>
              <a:t>for inspection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13395960"/>
            <a:ext cx="113385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315F8A"/>
                </a:solidFill>
                <a:latin typeface="Aptos"/>
              </a:rPr>
              <a:t>1  STABILITY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8720" y="14036040"/>
            <a:ext cx="12618720" cy="4937760"/>
          </a:xfrm>
          <a:prstGeom prst="rect">
            <a:avLst/>
          </a:prstGeom>
          <a:noFill/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16340328"/>
            <a:ext cx="12344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527EA5"/>
                </a:solidFill>
                <a:latin typeface="Aptos"/>
              </a:rPr>
              <a:t>Insert Figure 2A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19293840"/>
            <a:ext cx="1216152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606A77"/>
                </a:solidFill>
                <a:latin typeface="Aptos"/>
              </a:rPr>
              <a:t>Mean Top100 Jaccard increased from 0.24 to 0.57 with best small-batch or consensus ranking.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0" y="13395960"/>
            <a:ext cx="113385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315F8A"/>
                </a:solidFill>
                <a:latin typeface="Aptos"/>
              </a:rPr>
              <a:t>2  PERFORMANCE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447520" y="14036040"/>
            <a:ext cx="12618720" cy="4937760"/>
          </a:xfrm>
          <a:prstGeom prst="rect">
            <a:avLst/>
          </a:prstGeom>
          <a:noFill/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584680" y="16340328"/>
            <a:ext cx="12344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527EA5"/>
                </a:solidFill>
                <a:latin typeface="Aptos"/>
              </a:rPr>
              <a:t>Insert Figure 2B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721840" y="19293840"/>
            <a:ext cx="1216152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606A77"/>
                </a:solidFill>
                <a:latin typeface="Aptos"/>
              </a:rPr>
              <a:t>The best small-batch Top2000 panel was within 0.005 primary-metric units of full Top2000 in 6 of 7 tasks.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980640" y="13395960"/>
            <a:ext cx="125272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315F8A"/>
                </a:solidFill>
                <a:latin typeface="Aptos"/>
              </a:rPr>
              <a:t>3  PRIOR-GENE RECOVERY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706320" y="14036040"/>
            <a:ext cx="12984480" cy="4937760"/>
          </a:xfrm>
          <a:prstGeom prst="rect">
            <a:avLst/>
          </a:prstGeom>
          <a:noFill/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843480" y="16340328"/>
            <a:ext cx="12710159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527EA5"/>
                </a:solidFill>
                <a:latin typeface="Aptos"/>
              </a:rPr>
              <a:t>Insert Figure 2C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980640" y="19293840"/>
            <a:ext cx="1243584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606A77"/>
                </a:solidFill>
                <a:latin typeface="Aptos"/>
              </a:rPr>
              <a:t>Small-batch screening recovered additional fold-stable BRCA/PAM50 prior genes, with the largest mean gain in TNBC.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22082760"/>
            <a:ext cx="122529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315F8A"/>
                </a:solidFill>
                <a:latin typeface="Aptos"/>
              </a:rPr>
              <a:t>BASELINES AND EXTERNAL VALIDATION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80160" y="22677120"/>
            <a:ext cx="12984480" cy="3291840"/>
          </a:xfrm>
          <a:prstGeom prst="rect">
            <a:avLst/>
          </a:prstGeom>
          <a:noFill/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17319" y="24158448"/>
            <a:ext cx="12710159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527EA5"/>
                </a:solidFill>
                <a:latin typeface="Aptos"/>
              </a:rPr>
              <a:t>Insert Figure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996159" y="22082760"/>
            <a:ext cx="1225296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315F8A"/>
                </a:solidFill>
                <a:latin typeface="Aptos"/>
              </a:rPr>
              <a:t>EXPLORATORY PROGNOSIS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721840" y="22677120"/>
            <a:ext cx="12618720" cy="3291840"/>
          </a:xfrm>
          <a:prstGeom prst="rect">
            <a:avLst/>
          </a:prstGeom>
          <a:noFill/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859000" y="24158448"/>
            <a:ext cx="1234440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300" b="1">
                <a:solidFill>
                  <a:srgbClr val="527EA5"/>
                </a:solidFill>
                <a:latin typeface="Aptos"/>
              </a:rPr>
              <a:t>Insert prognosis supplement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95040" y="21945600"/>
            <a:ext cx="117957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C44E4A"/>
                </a:solidFill>
                <a:latin typeface="Aptos"/>
              </a:rPr>
              <a:t>TAKE-HOME MESSAGE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895040" y="22677120"/>
            <a:ext cx="11704320" cy="23317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500" b="1">
                <a:solidFill>
                  <a:srgbClr val="1D1D1F"/>
                </a:solidFill>
                <a:latin typeface="Aptos"/>
              </a:rPr>
              <a:t>A high model score does not make one top-gene list definitive.</a:t>
            </a:r>
          </a:p>
          <a:p>
            <a:pPr algn="l"/>
          </a:p>
          <a:p>
            <a:pPr algn="l"/>
            <a:r>
              <a:rPr sz="1500" b="1">
                <a:solidFill>
                  <a:srgbClr val="1D1D1F"/>
                </a:solidFill>
                <a:latin typeface="Aptos"/>
              </a:rPr>
              <a:t>Fold-contained repeated screening makes ranking instability visible and produces more reproducible candidate panels for biological follow-up.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895040" y="25283160"/>
            <a:ext cx="78638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606A77"/>
                </a:solidFill>
                <a:latin typeface="Aptos"/>
              </a:rPr>
              <a:t>Insert QR code or URL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28209240"/>
            <a:ext cx="6858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606A77"/>
                </a:solidFill>
                <a:latin typeface="Aptos"/>
              </a:rPr>
              <a:t>Study affiliation: CCMRC, Cardiff University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28209240"/>
            <a:ext cx="56692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315F8A"/>
                </a:solidFill>
                <a:latin typeface="Aptos"/>
              </a:rPr>
              <a:t>Linkle: Qirui Tian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208240" y="28209240"/>
            <a:ext cx="77724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606A77"/>
                </a:solidFill>
                <a:latin typeface="Aptos"/>
              </a:rPr>
              <a:t>Poster materials: insert QR or URL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638240" y="28209240"/>
            <a:ext cx="78638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C44E4A"/>
                </a:solidFill>
                <a:latin typeface="Aptos"/>
              </a:rPr>
              <a:t>NovoRadiant | independent outreach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